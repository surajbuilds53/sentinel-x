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280160"/>
            <a:ext cx="103628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i="1">
                <a:solidFill>
                  <a:srgbClr val="0F172A"/>
                </a:solidFill>
                <a:latin typeface="Georgia"/>
              </a:defRPr>
            </a:pPr>
            <a:r>
              <a:t>A Project Presentation</a:t>
            </a:r>
            <a:br/>
            <a:r>
              <a:t>on</a:t>
            </a:r>
          </a:p>
          <a:p>
            <a:pPr algn="ctr">
              <a:spcBef>
                <a:spcPts val="800"/>
              </a:spcBef>
              <a:spcAft>
                <a:spcPts val="1400"/>
              </a:spcAft>
              <a:defRPr sz="2500" b="1">
                <a:solidFill>
                  <a:srgbClr val="1E3A8A"/>
                </a:solidFill>
                <a:latin typeface="Georgia"/>
              </a:defRPr>
            </a:pPr>
            <a:r>
              <a:t>Sentinel-X: AI-Based Network Attack Forecasting</a:t>
            </a:r>
            <a:br/>
            <a:r>
              <a:t>from Network Traffic Data</a:t>
            </a:r>
          </a:p>
          <a:p>
            <a:pPr algn="ctr">
              <a:spcAft>
                <a:spcPts val="400"/>
              </a:spcAft>
              <a:defRPr sz="1450" b="1">
                <a:solidFill>
                  <a:srgbClr val="0F172A"/>
                </a:solidFill>
                <a:latin typeface="Arial"/>
              </a:defRPr>
            </a:pPr>
            <a:r>
              <a:t>Presentation by :</a:t>
            </a:r>
          </a:p>
          <a:p>
            <a:pPr algn="ctr">
              <a:defRPr sz="1300" b="1">
                <a:solidFill>
                  <a:srgbClr val="334155"/>
                </a:solidFill>
                <a:latin typeface="Arial"/>
              </a:defRPr>
            </a:pPr>
            <a:r>
              <a:t>Shristi Jaiswal  —  Roll No. 2405250100153</a:t>
            </a:r>
          </a:p>
          <a:p>
            <a:pPr algn="ctr">
              <a:defRPr sz="1300" b="1">
                <a:solidFill>
                  <a:srgbClr val="334155"/>
                </a:solidFill>
                <a:latin typeface="Arial"/>
              </a:defRPr>
            </a:pPr>
            <a:r>
              <a:t>Suraj Prakash Chaudhary  —  Roll No. 2405250100156</a:t>
            </a:r>
          </a:p>
          <a:p>
            <a:pPr algn="ctr">
              <a:defRPr sz="1300" b="1">
                <a:solidFill>
                  <a:srgbClr val="334155"/>
                </a:solidFill>
                <a:latin typeface="Arial"/>
              </a:defRPr>
            </a:pPr>
            <a:r>
              <a:t>Suraj Upadhyay  —  Roll No. 2405250100158</a:t>
            </a:r>
          </a:p>
          <a:p>
            <a:pPr algn="ctr">
              <a:defRPr sz="1300" b="1">
                <a:solidFill>
                  <a:srgbClr val="334155"/>
                </a:solidFill>
                <a:latin typeface="Arial"/>
              </a:defRPr>
            </a:pPr>
            <a:r>
              <a:t>Udai Kumar Srivastava  —  Roll No. 2405250100160</a:t>
            </a:r>
          </a:p>
          <a:p>
            <a:pPr algn="ctr">
              <a:spcBef>
                <a:spcPts val="1000"/>
              </a:spcBef>
              <a:defRPr sz="1400" b="1">
                <a:solidFill>
                  <a:srgbClr val="0F172A"/>
                </a:solidFill>
                <a:latin typeface="Arial"/>
              </a:defRPr>
            </a:pPr>
            <a:r>
              <a:t>Under the guidance of :</a:t>
            </a:r>
          </a:p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Mr. Akash Gupta</a:t>
            </a:r>
            <a:br/>
            <a:r>
              <a:t>(Assistant Professor)</a:t>
            </a:r>
          </a:p>
          <a:p>
            <a:pPr algn="ctr">
              <a:spcBef>
                <a:spcPts val="1000"/>
              </a:spcBef>
              <a:defRPr sz="1350" b="1">
                <a:solidFill>
                  <a:srgbClr val="B91C1C"/>
                </a:solidFill>
                <a:latin typeface="Georgia"/>
              </a:defRPr>
            </a:pPr>
            <a:r>
              <a:t>Department of Computer Science and Engineering</a:t>
            </a:r>
            <a:br/>
            <a:r>
              <a:t>Buddha Institute of Technology, GIDA, Gorakhpur</a:t>
            </a:r>
            <a:br/>
            <a:r>
              <a:t>Session 2026-27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51560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Project Content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6590" y="1645920"/>
            <a:ext cx="36576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05840" y="1783080"/>
          <a:ext cx="4937760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920240"/>
                <a:gridCol w="2377440"/>
              </a:tblGrid>
              <a:tr h="474345">
                <a:tc>
                  <a:txBody>
                    <a:bodyPr wrap="square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S.No.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Content Module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Focus / Deliverable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01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Introduction &amp; Shift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Reactive NIDS vs Predictive Forecasting (SIH26153)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02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Literature Review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Survey of 7 benchmark papers &amp; research gaps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03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Project Objectives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4 Core engineering &amp; defense targets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04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System Architecture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7-stage closed-loop data &amp; neural pipeline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05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16 State Features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10s aggregation capturing attack kinetics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06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Sequence Windowing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Leak-free chronological 70/15/15 partitioning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07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LSTM World Model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2-layer recurrent backbone with 3 multi-task heads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783080"/>
          <a:ext cx="4937760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920240"/>
                <a:gridCol w="2377440"/>
              </a:tblGrid>
              <a:tr h="474345">
                <a:tc>
                  <a:txBody>
                    <a:bodyPr wrap="square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S.No.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Content Module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Focus / Deliverable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08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Autoregressive Rollout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Multi-step rollout (T+1..T+3) &amp; joint loss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09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MITRE ATT&amp;CK Lifecycle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5-stage conservative behavioral progression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Explainable AI (SHAP)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Signed risk drivers, inhibitors &amp; temporal saliency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Empirical Benchmarks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100% Recall, 75% FPR reduction &amp; decay curves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SOC Command Dashboard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 interactive operational views running offline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Future Scope &amp; Roadmap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Automated SDN, Temporal GNNs &amp; Edge Quantization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References &amp; Bibliography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 Academic citations matching Literature Review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1005840" y="5715000"/>
            <a:ext cx="10149840" cy="685800"/>
          </a:xfrm>
          <a:prstGeom prst="roundRect">
            <a:avLst/>
          </a:prstGeom>
          <a:solidFill>
            <a:srgbClr val="FFFC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50">
                <a:solidFill>
                  <a:srgbClr val="1E3A8A"/>
                </a:solidFill>
              </a:defRPr>
            </a:pPr>
            <a:r>
              <a:t>Structured Academic Agenda: Spanning foundational literature, leak-free deep sequence modeling, explainability, and live SOC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51560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Problem Statement: Shift to Predictive Defense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6590" y="1645920"/>
            <a:ext cx="36576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reactive_vs_predic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C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E3A8A"/>
                </a:solidFill>
              </a:defRPr>
            </a:pPr>
            <a:r>
              <a:t>SIH26153 Mandate: Transition from reactive detection (alerting post-breach) to predictive forecasting.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By predicting risk 10 to 30 seconds into the future, automated firewall policies can isolate malicious hosts before damage occurs.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51560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Literature Review: Comparative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6590" y="1645920"/>
            <a:ext cx="36576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37360"/>
          <a:ext cx="103601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2011680"/>
                <a:gridCol w="1645920"/>
                <a:gridCol w="2651760"/>
                <a:gridCol w="3456432"/>
              </a:tblGrid>
              <a:tr h="480060">
                <a:tc>
                  <a:txBody>
                    <a:bodyPr wrap="square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Ref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Author &amp; Year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Benchmark / Domain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Methodology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Identified Gap (Addressed by Sentinel-X)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[1]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Moustafa &amp; Slay (2015)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UNSW-NB15 Benchmark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Static flow extraction, Decision Trees &amp; Association Rule Mining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  <a:latin typeface="Arial"/>
                        </a:defRPr>
                      </a:pPr>
                      <a:r>
                        <a:t>Evaluates static isolated flows; lacks temporal sequencing and future trajectory forecasting.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[2]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Sharafaldin et al. (2018)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CIC-IDS2017 Dataset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Systematic attack profiling; evaluated Random Forest, KNN &amp; SVM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  <a:latin typeface="Arial"/>
                        </a:defRPr>
                      </a:pPr>
                      <a:r>
                        <a:t>Exclusively post-breach detection; alerts fire after compromise with severe alert fatigue.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[3]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Vinayakumar et al. (2019)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Deep Recurrent NIDS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Multi-layer RNN and LSTM architectures for flow classification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  <a:latin typeface="Arial"/>
                        </a:defRPr>
                      </a:pPr>
                      <a:r>
                        <a:t>Classifies single historical windows; lacks auxiliary state reconstruction and multi-step rollout.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[4]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Lundberg &amp; Lee (2017)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Explainable AI (SHAP)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Unified game-theoretic Shapley values for model feature impact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  <a:latin typeface="Arial"/>
                        </a:defRPr>
                      </a:pPr>
                      <a:r>
                        <a:t>Targets static tabular data; lacks temporal saliency mapping across sequence time-steps.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[5]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Haider et al. (2020)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Predictive Intrusion Models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Deep Reinforcement Learning &amp; state projection in virtual sandboxes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  <a:latin typeface="Arial"/>
                        </a:defRPr>
                      </a:pPr>
                      <a:r>
                        <a:t>Agent policy focus; does not learn continuous 16-D physics of real enterprise network telemetry.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[6]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MITRE Corporation (2020)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MITRE ATT&amp;CK Matrix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Enterprise knowledge base of adversarial tactics and techniques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  <a:latin typeface="Arial"/>
                        </a:defRPr>
                      </a:pPr>
                      <a:r>
                        <a:t>Used for retrospective incident response; lacks automated behavioral stage triage from live flows.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[7]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Hafeez et al. (2020)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Distributed Intrusion Systems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Ensemble deep learning for high-throughput network monitoring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  <a:latin typeface="Arial"/>
                        </a:defRPr>
                      </a:pPr>
                      <a:r>
                        <a:t>High cloud compute latency; lacks sub-20ms local CPU execution and automated SDN orchestration.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5715000"/>
            <a:ext cx="10362895" cy="685800"/>
          </a:xfrm>
          <a:prstGeom prst="roundRect">
            <a:avLst/>
          </a:prstGeom>
          <a:solidFill>
            <a:srgbClr val="FFFC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50">
                <a:solidFill>
                  <a:srgbClr val="1E3A8A"/>
                </a:solidFill>
              </a:defRPr>
            </a:pPr>
            <a:r>
              <a:t>Research Gap Synthesis: Prior work is predominantly reactive, static, and cloud-bound. Sentinel-X bridges these gaps via 3-step autoregressive rollout, dual XAI, and sub-20ms local execution.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51560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Objectives &amp; Engineering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6590" y="1645920"/>
            <a:ext cx="36576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20" y="1828800"/>
            <a:ext cx="4754880" cy="1691640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1D4ED8"/>
                </a:solidFill>
                <a:latin typeface="Georgia"/>
              </a:defRPr>
            </a:pPr>
            <a:r>
              <a:t>01. Predictive World Model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Arial"/>
              </a:defRPr>
            </a:pPr>
            <a:r>
              <a:t>Develop an autoregressive 2-layer LSTM that ingests rolling 120s windows (T-11..T) to forecast risk across multi-step future horizons (T+1, T+2, T+3).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4754880" cy="1691640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D97706"/>
                </a:solidFill>
                <a:latin typeface="Georgia"/>
              </a:defRPr>
            </a:pPr>
            <a:r>
              <a:t>02. MITRE Stage Classification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Arial"/>
              </a:defRPr>
            </a:pPr>
            <a:r>
              <a:t>Concurrently classify the attack progression into 5 conservative behavioral stages (Benign, Recon, Initial Access, Lateral Move, C2) for SOC triage.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3703320"/>
            <a:ext cx="4754880" cy="1691640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15803D"/>
                </a:solidFill>
                <a:latin typeface="Georgia"/>
              </a:defRPr>
            </a:pPr>
            <a:r>
              <a:t>03. Dual-Tier Explainable AI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Arial"/>
              </a:defRPr>
            </a:pPr>
            <a:r>
              <a:t>Implement signed SHAP feature attribution (drivers vs inhibitors) and temporal sequence saliency to eliminate the neural 'black box' for SOC analysts.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03320"/>
            <a:ext cx="4754880" cy="1691640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B91C1C"/>
                </a:solidFill>
                <a:latin typeface="Georgia"/>
              </a:defRPr>
            </a:pPr>
            <a:r>
              <a:t>04. Interactive SOC Simulation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Arial"/>
              </a:defRPr>
            </a:pPr>
            <a:r>
              <a:t>Deliver a production-ready Streamlit dashboard with executive gauges, confidence interval bands, and local offline execution (&lt;20ms latency).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5715000"/>
            <a:ext cx="9784080" cy="685800"/>
          </a:xfrm>
          <a:prstGeom prst="roundRect">
            <a:avLst/>
          </a:prstGeom>
          <a:solidFill>
            <a:srgbClr val="FFFC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1E3A8A"/>
                </a:solidFill>
              </a:defRPr>
            </a:pPr>
            <a:r>
              <a:t>Target Success Metric: Zero missed attacks at T+1 (100% Recall), &gt;75% false alarm reduction, and sub-20ms inference.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51560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End-to-End System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6590" y="1645920"/>
            <a:ext cx="36576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pipelin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691640"/>
            <a:ext cx="1005840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51560" y="5715000"/>
            <a:ext cx="10058400" cy="777240"/>
          </a:xfrm>
          <a:prstGeom prst="roundRect">
            <a:avLst/>
          </a:prstGeom>
          <a:solidFill>
            <a:srgbClr val="FFFC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Closed-Loop Data &amp; Neural Pipeline: Raw Flows → 10s Window Aggregator → 2-Layer LSTM → 3 Heads → Rollout →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51560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16-Dimensional Network State Representation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6590" y="1645920"/>
            <a:ext cx="36576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16_features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715000"/>
            <a:ext cx="9601200" cy="777240"/>
          </a:xfrm>
          <a:prstGeom prst="roundRect">
            <a:avLst/>
          </a:prstGeom>
          <a:solidFill>
            <a:srgbClr val="FFFC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Why 10-Second Windows? Packet-by-packet sniffing overflows memory on gigabit links; statistical windowing captures attack kinetics.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51560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Leak-Free Chronological Windowing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6590" y="1645920"/>
            <a:ext cx="36576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hronological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C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Guaranteed Zero Data Leakage: Standard train_test_split(shuffle=True) causes temporal leakage in time series.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Strict chronological split (Train 70% | Val 15% | Test 15%). Scaler is fitted strictly on the training set.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51560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Deep LSTM World Model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6590" y="1645920"/>
            <a:ext cx="36576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world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C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World Model Paradigm: It doesn't just output a static class; it predicts how the environment itself evolves.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2-Layer LSTM (Hidden 128) concurrently drives: Risk Head (BCE), Stage Head (CE), and State Reconstructor (MSE).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51560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Autoregressive Rollout &amp; Multi-Task Loss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6590" y="1645920"/>
            <a:ext cx="36576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rollout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715000"/>
            <a:ext cx="9601200" cy="777240"/>
          </a:xfrm>
          <a:prstGeom prst="roundRect">
            <a:avLst/>
          </a:prstGeom>
          <a:solidFill>
            <a:srgbClr val="FFFC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Auxiliary Task Regularization: Predicting continuous state (w_state=0.2) forces the LSTM to learn real network physics.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51560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Conservative MITRE ATT&amp;CK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6590" y="1645920"/>
            <a:ext cx="36576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mitre_chevr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C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Academic Defensive Posture: We classify behavioral telemetry stages for SOC triage, NOT definitive forensic certainty.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5 Distinct Stages: Benign Baseline (0) → Recon (1) → Initial Access (2) → Lateral Movement (3) → Command &amp; Control (4).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51560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Explainable AI (SHAP Threat Attribution)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6590" y="1645920"/>
            <a:ext cx="36576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shap_fo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C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Eliminating the Black Box: Explains exactly WHY future risk was predicted to escalate.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Red Bars = Risk Drivers (syn_ratio, packet_rate)  |  Green Bars = Risk Inhibitors (ack_ratio, duration_mean).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51560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Empirical Results: Baseline vs. World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6590" y="1645920"/>
            <a:ext cx="36576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rt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6583680" cy="357399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783080"/>
            <a:ext cx="2926080" cy="1188720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5803D"/>
                </a:solidFill>
                <a:latin typeface="Georgia"/>
              </a:defRPr>
            </a:pPr>
            <a:r>
              <a:t>100.0% RECALL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Zero missed attacks at T+1</a:t>
            </a:r>
            <a:br/>
            <a:r>
              <a:t>(Baseline missed 2.2%)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154680"/>
            <a:ext cx="2926080" cy="1188720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D4ED8"/>
                </a:solidFill>
                <a:latin typeface="Georgia"/>
              </a:defRPr>
            </a:pPr>
            <a:r>
              <a:t>75% LESS FALSE ALARMS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FPR reduced from 20% to 5%</a:t>
            </a:r>
            <a:br/>
            <a:r>
              <a:t>Directly solves alert fatigue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526280"/>
            <a:ext cx="2926080" cy="1188720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97706"/>
                </a:solidFill>
                <a:latin typeface="Georgia"/>
              </a:defRPr>
            </a:pPr>
            <a:r>
              <a:t>0.9834 F1-SCORE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F1 tapers to 0.9721 at T+3</a:t>
            </a:r>
            <a:br/>
            <a:r>
              <a:t>(Expected horizon decay)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5806440"/>
            <a:ext cx="9692640" cy="685800"/>
          </a:xfrm>
          <a:prstGeom prst="roundRect">
            <a:avLst/>
          </a:prstGeom>
          <a:solidFill>
            <a:srgbClr val="FFFC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1E3A8A"/>
                </a:solidFill>
              </a:defRPr>
            </a:pPr>
            <a:r>
              <a:t>Key Takeaway: Predictive variance compounds naturally as horizon extends, proving genuine autoregressive rollout.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51560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Interactive SOC Command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6590" y="1645920"/>
            <a:ext cx="36576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00200"/>
            <a:ext cx="9601200" cy="53725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69280"/>
            <a:ext cx="9601200" cy="777240"/>
          </a:xfrm>
          <a:prstGeom prst="roundRect">
            <a:avLst/>
          </a:prstGeom>
          <a:solidFill>
            <a:srgbClr val="FFFC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1E3A8A"/>
                </a:solidFill>
              </a:defRPr>
            </a:pPr>
            <a:r>
              <a:t>5 Operational Views: Executive Risk Gauge | Forecast Timeline (95% CI) | Threat Attribution | Benchmarks | System Status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51560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Societal Impact &amp; Future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6590" y="1645920"/>
            <a:ext cx="36576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future_pill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C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Green AI Architecture: Single-sample inference latency &lt; 20 ms on standard laptop CPU with zero cloud costs.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Proactive shielding for critical infrastructure (power, banking, healthcare) against multi-phase ransomware &amp; breaches.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51560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References &amp; Bibliography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6590" y="1645920"/>
            <a:ext cx="36576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37360"/>
          <a:ext cx="103601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9582912"/>
              </a:tblGrid>
              <a:tr h="480060">
                <a:tc>
                  <a:txBody>
                    <a:bodyPr wrap="square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Ref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Standard Academic Citation (IEEE Format)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[1]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3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N. Moustafa and J. Slay, "UNSW-NB15: a comprehensive data set for network intrusion detection systems," in Proc. IEEE Military Communications and Information Systems Conf. (MilCIS), Canberra, ACT, Australia, 2015, pp. 1–6.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[2]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3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I. Sharafaldin, A. H. Lashkari, and A. A. Ghorbani, "Toward generating a new dataset for intrusion detection to enhance cybersecurity," in Proc. 4th Int. Conf. Inf. Syst. Secur. Privacy (ICISSP), Funchal, Madeira, Portugal, 2018, pp. 108–116.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[3]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3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R. Vinayakumar, M. Alazab, K. P. Soman, P. Poornachandran, A. Al-Nemrat, and S. Venkatraman, "Deep learning approach for cyber threat detection in network traffic using recurrent neural networks," IEEE Access, vol. 7, pp. 41525–41550, 2019.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[4]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3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S. M. Lundberg and S.-I. Lee, "A unified approach to interpreting model predictions," in Advances in Neural Information Processing Systems (NeurIPS 30), Long Beach, CA, USA, 2017, pp. 4765–4774.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[5]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3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A. Haider, A. Nadeem, and S. Akram, "Predictive intrusion detection and cyber deception using recurrent neural architectures," Computers &amp; Security, vol. 92, p. 101756, 2020.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[6]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3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MITRE Corporation, "MITRE ATT&amp;CK®: Design and Philosophy," The MITRE Corporation, McLean, VA, USA, Tech. Rep. MTR-180126, 2020. [Online]. Available: https://attack.mitre.org/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[7]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3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I. Hafeez, M. Ding, L. Su, and S. Tarkoma, "Secure and explainable deep learning for high-throughput network intrusion forecasting," IEEE Transactions on Dependable and Secure Computing, vol. 18, no. 4, pp. 1622–1637, 2020.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5715000"/>
            <a:ext cx="10362895" cy="685800"/>
          </a:xfrm>
          <a:prstGeom prst="roundRect">
            <a:avLst/>
          </a:prstGeom>
          <a:solidFill>
            <a:srgbClr val="FFFC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50">
                <a:solidFill>
                  <a:srgbClr val="1E3A8A"/>
                </a:solidFill>
              </a:defRPr>
            </a:pPr>
            <a:r>
              <a:t>Citation Fidelity: All empirical baselines, UNSW-NB15/CIC-IDS telemetry schemas, and XAI formulations strictly reference peer-reviewed literature.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645920" y="3977639"/>
            <a:ext cx="8899855" cy="2468880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100" b="1">
                <a:solidFill>
                  <a:srgbClr val="1E3A8A"/>
                </a:solidFill>
                <a:latin typeface="Georgia"/>
              </a:defRPr>
            </a:pPr>
            <a:r>
              <a:t>Questions &amp; Discussion</a:t>
            </a:r>
          </a:p>
          <a:p>
            <a:pPr algn="ctr">
              <a:spcBef>
                <a:spcPts val="600"/>
              </a:spcBef>
              <a:defRPr sz="1350" b="1">
                <a:solidFill>
                  <a:srgbClr val="0F172A"/>
                </a:solidFill>
                <a:latin typeface="Arial"/>
              </a:defRPr>
            </a:pPr>
            <a:r>
              <a:t>Shristi Jaiswal  |  Suraj Prakash Chaudhary  |  Suraj Upadhyay  |  Udai Kumar Srivastava</a:t>
            </a:r>
          </a:p>
          <a:p>
            <a:pPr algn="ctr">
              <a:spcBef>
                <a:spcPts val="600"/>
              </a:spcBef>
              <a:defRPr sz="1150" b="1">
                <a:solidFill>
                  <a:srgbClr val="B91C1C"/>
                </a:solidFill>
                <a:latin typeface="Arial"/>
              </a:defRPr>
            </a:pPr>
            <a:r>
              <a:t>Under the guidance of: Mr. Akash Gupta (Assistant Professor)</a:t>
            </a:r>
            <a:br/>
            <a:r>
              <a:t>Department of Computer Science and Engineering</a:t>
            </a:r>
            <a:br/>
            <a:r>
              <a:t>Buddha Institute of Technology, GIDA, Gorakhpur</a:t>
            </a:r>
          </a:p>
          <a:p>
            <a:pPr algn="ctr">
              <a:spcBef>
                <a:spcPts val="4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GitHub: github.com/surajbuilds53/sentinel-x  |  Live Hub: sentinel-x-lilac.vercel.app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