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itle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11680" y="1051560"/>
            <a:ext cx="816833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i="1">
                <a:solidFill>
                  <a:srgbClr val="0F172A"/>
                </a:solidFill>
                <a:latin typeface="Georgia"/>
              </a:defRPr>
            </a:pPr>
            <a:r>
              <a:t>A Project Presentation</a:t>
            </a:r>
            <a:br/>
            <a:r>
              <a:t>on</a:t>
            </a:r>
          </a:p>
          <a:p>
            <a:pPr algn="ctr">
              <a:spcBef>
                <a:spcPts val="800"/>
              </a:spcBef>
              <a:spcAft>
                <a:spcPts val="1400"/>
              </a:spcAft>
              <a:defRPr sz="2500" b="1">
                <a:solidFill>
                  <a:srgbClr val="1E3A8A"/>
                </a:solidFill>
                <a:latin typeface="Georgia"/>
              </a:defRPr>
            </a:pPr>
            <a:r>
              <a:t>Sentinel-X: AI-Based Network Attack Forecasting</a:t>
            </a:r>
            <a:br/>
            <a:r>
              <a:t>from Network Traffic Data</a:t>
            </a:r>
          </a:p>
          <a:p>
            <a:pPr algn="ctr">
              <a:spcAft>
                <a:spcPts val="400"/>
              </a:spcAft>
              <a:defRPr sz="1500" b="1">
                <a:solidFill>
                  <a:srgbClr val="0F172A"/>
                </a:solidFill>
                <a:latin typeface="Arial"/>
              </a:defRPr>
            </a:pPr>
            <a:r>
              <a:t>Presentation by :</a:t>
            </a:r>
          </a:p>
          <a:p>
            <a:pPr algn="ctr">
              <a:defRPr sz="1350" b="1">
                <a:solidFill>
                  <a:srgbClr val="1E293B"/>
                </a:solidFill>
                <a:latin typeface="Arial"/>
              </a:defRPr>
            </a:pPr>
            <a:r>
              <a:t>Shristi Jaiswal  —  Roll No. 2405250100153</a:t>
            </a:r>
          </a:p>
          <a:p>
            <a:pPr algn="ctr">
              <a:defRPr sz="1350" b="1">
                <a:solidFill>
                  <a:srgbClr val="1E293B"/>
                </a:solidFill>
                <a:latin typeface="Arial"/>
              </a:defRPr>
            </a:pPr>
            <a:r>
              <a:t>Suraj Prakash Chaudhary  —  Roll No. 2405250100156</a:t>
            </a:r>
          </a:p>
          <a:p>
            <a:pPr algn="ctr">
              <a:defRPr sz="1350" b="1">
                <a:solidFill>
                  <a:srgbClr val="1E293B"/>
                </a:solidFill>
                <a:latin typeface="Arial"/>
              </a:defRPr>
            </a:pPr>
            <a:r>
              <a:t>Suraj Upadhyay  —  Roll No. 2405250100158</a:t>
            </a:r>
          </a:p>
          <a:p>
            <a:pPr algn="ctr">
              <a:defRPr sz="1350" b="1">
                <a:solidFill>
                  <a:srgbClr val="1E293B"/>
                </a:solidFill>
                <a:latin typeface="Arial"/>
              </a:defRPr>
            </a:pPr>
            <a:r>
              <a:t>Udai Kumar Srivastava  —  Roll No. 2405250100160</a:t>
            </a:r>
          </a:p>
          <a:p>
            <a:pPr algn="ctr">
              <a:spcBef>
                <a:spcPts val="1000"/>
              </a:spcBef>
              <a:defRPr sz="1400" b="1">
                <a:solidFill>
                  <a:srgbClr val="0F172A"/>
                </a:solidFill>
                <a:latin typeface="Arial"/>
              </a:defRPr>
            </a:pPr>
            <a:r>
              <a:t>Under the guidance of :</a:t>
            </a:r>
          </a:p>
          <a:p>
            <a:pPr algn="ctr">
              <a:defRPr sz="1400" b="1">
                <a:solidFill>
                  <a:srgbClr val="1E3A8A"/>
                </a:solidFill>
                <a:latin typeface="Arial"/>
              </a:defRPr>
            </a:pPr>
            <a:r>
              <a:t>Mr. Akash Gupta</a:t>
            </a:r>
            <a:br/>
            <a:r>
              <a:t>(Assistant Professor)</a:t>
            </a:r>
          </a:p>
          <a:p>
            <a:pPr algn="ctr">
              <a:spcBef>
                <a:spcPts val="1000"/>
              </a:spcBef>
              <a:defRPr sz="1350" b="1">
                <a:solidFill>
                  <a:srgbClr val="991B1B"/>
                </a:solidFill>
                <a:latin typeface="Georgia"/>
              </a:defRPr>
            </a:pPr>
            <a:r>
              <a:t>Department of Computer Science and Engineering</a:t>
            </a:r>
            <a:br/>
            <a:r>
              <a:t>Buddha Institute of Technology, GIDA, Gorakhpur</a:t>
            </a:r>
            <a:br/>
            <a:r>
              <a:t>Session 2026-27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ster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286000" y="777240"/>
            <a:ext cx="76196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E3A8A"/>
                </a:solidFill>
                <a:latin typeface="Georgia"/>
              </a:defRPr>
            </a:pPr>
            <a:r>
              <a:t>CONTENT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1444752"/>
            <a:ext cx="3962095" cy="36576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0" y="1828800"/>
            <a:ext cx="8961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❖  Brief Introduction  —  </a:t>
            </a:r>
            <a:r>
              <a:rPr sz="1300" b="0">
                <a:solidFill>
                  <a:srgbClr val="64748B"/>
                </a:solidFill>
                <a:latin typeface="Arial"/>
              </a:rPr>
              <a:t>SIH26153 Problem Statement &amp; Shift to Predictive Forecasting</a:t>
            </a:r>
          </a:p>
          <a:p>
            <a:pPr>
              <a:spcAft>
                <a:spcPts val="5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❖  Literature Review  —  </a:t>
            </a:r>
            <a:r>
              <a:rPr sz="1300" b="0">
                <a:solidFill>
                  <a:srgbClr val="64748B"/>
                </a:solidFill>
                <a:latin typeface="Arial"/>
              </a:rPr>
              <a:t>Existing NIDS, Gaps in Retrospective Systems &amp; Research Contribution</a:t>
            </a:r>
          </a:p>
          <a:p>
            <a:pPr>
              <a:spcAft>
                <a:spcPts val="5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❖  Objective of the Project  —  </a:t>
            </a:r>
            <a:r>
              <a:rPr sz="1300" b="0">
                <a:solidFill>
                  <a:srgbClr val="64748B"/>
                </a:solidFill>
                <a:latin typeface="Arial"/>
              </a:rPr>
              <a:t>Core Technical &amp; Defensive Cybersecurity Goals</a:t>
            </a:r>
          </a:p>
          <a:p>
            <a:pPr>
              <a:spcAft>
                <a:spcPts val="5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❖  Feasibility Study  —  </a:t>
            </a:r>
            <a:r>
              <a:rPr sz="1300" b="0">
                <a:solidFill>
                  <a:srgbClr val="64748B"/>
                </a:solidFill>
                <a:latin typeface="Arial"/>
              </a:rPr>
              <a:t>Technical, Operational &amp; Economic/Resource Viability</a:t>
            </a:r>
          </a:p>
          <a:p>
            <a:pPr>
              <a:spcAft>
                <a:spcPts val="5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❖  Proposed Work  —  </a:t>
            </a:r>
            <a:r>
              <a:rPr sz="1300" b="0">
                <a:solidFill>
                  <a:srgbClr val="64748B"/>
                </a:solidFill>
                <a:latin typeface="Arial"/>
              </a:rPr>
              <a:t>End-to-End Pipeline &amp; 16-Dimensional Network State Representation</a:t>
            </a:r>
          </a:p>
          <a:p>
            <a:pPr>
              <a:spcAft>
                <a:spcPts val="5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❖  Methodology / Technology Used  —  </a:t>
            </a:r>
            <a:r>
              <a:rPr sz="1300" b="0">
                <a:solidFill>
                  <a:srgbClr val="64748B"/>
                </a:solidFill>
                <a:latin typeface="Arial"/>
              </a:rPr>
              <a:t>Recurrent LSTM World Model, Autoregressive Rollout &amp; SHAP XAI</a:t>
            </a:r>
          </a:p>
          <a:p>
            <a:pPr>
              <a:spcAft>
                <a:spcPts val="5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❖  Social &amp; Environmental Relevance  —  </a:t>
            </a:r>
            <a:r>
              <a:rPr sz="1300" b="0">
                <a:solidFill>
                  <a:srgbClr val="64748B"/>
                </a:solidFill>
                <a:latin typeface="Arial"/>
              </a:rPr>
              <a:t>National Critical Infrastructure Defense &amp; Low-Power AI</a:t>
            </a:r>
          </a:p>
          <a:p>
            <a:pPr>
              <a:spcAft>
                <a:spcPts val="5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❖  Conclusion &amp; Future Scope  —  </a:t>
            </a:r>
            <a:r>
              <a:rPr sz="1300" b="0">
                <a:solidFill>
                  <a:srgbClr val="64748B"/>
                </a:solidFill>
                <a:latin typeface="Arial"/>
              </a:rPr>
              <a:t>Performance Takeaways, Automated SDN Firewalls &amp; ONNX</a:t>
            </a:r>
          </a:p>
          <a:p>
            <a:pPr>
              <a:spcAft>
                <a:spcPts val="5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❖  References  —  </a:t>
            </a:r>
            <a:r>
              <a:rPr sz="1300" b="0">
                <a:solidFill>
                  <a:srgbClr val="64748B"/>
                </a:solidFill>
                <a:latin typeface="Arial"/>
              </a:rPr>
              <a:t>Standard Benchmarks, MITRE ATT&amp;CK &amp; Deep Learning Citations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ster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286000" y="777240"/>
            <a:ext cx="76196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E3A8A"/>
                </a:solidFill>
                <a:latin typeface="Georgia"/>
              </a:defRPr>
            </a:pPr>
            <a:r>
              <a:t>Brief Introduction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1444752"/>
            <a:ext cx="3962095" cy="36576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991B1B"/>
                </a:solidFill>
                <a:latin typeface="Georgia"/>
              </a:defRPr>
            </a:pPr>
            <a:r>
              <a:t>The Reactive Cybersecurity Dilemma</a:t>
            </a:r>
          </a:p>
          <a:p>
            <a:pPr>
              <a:spcBef>
                <a:spcPts val="600"/>
              </a:spcBef>
              <a:defRPr sz="1350">
                <a:solidFill>
                  <a:srgbClr val="1E293B"/>
                </a:solidFill>
              </a:defRPr>
            </a:pPr>
            <a:r>
              <a:t>• Traditional Intrusion Detection Systems (NIDS/SIEM) are retrospective: they alert ONLY after an exploit payload detonates or breach succeeds.</a:t>
            </a:r>
          </a:p>
          <a:p>
            <a:pPr>
              <a:spcBef>
                <a:spcPts val="600"/>
              </a:spcBef>
              <a:defRPr sz="1350">
                <a:solidFill>
                  <a:srgbClr val="1E293B"/>
                </a:solidFill>
              </a:defRPr>
            </a:pPr>
            <a:r>
              <a:t>• Mean Time to Remediate (MTTR) is dangerously high because security teams react after lateral movement has already begun.</a:t>
            </a:r>
          </a:p>
          <a:p>
            <a:pPr>
              <a:spcBef>
                <a:spcPts val="600"/>
              </a:spcBef>
              <a:defRPr sz="1350">
                <a:solidFill>
                  <a:srgbClr val="1E293B"/>
                </a:solidFill>
              </a:defRPr>
            </a:pPr>
            <a:r>
              <a:t>• Alert Fatigue: SOC analysts are overwhelmed by thousands of isolated binary alerts with zero predictive trajectory.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82880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E3A8A"/>
                </a:solidFill>
                <a:latin typeface="Georgia"/>
              </a:defRPr>
            </a:pPr>
            <a:r>
              <a:t>The Sentinel-X Paradigm Shift</a:t>
            </a:r>
          </a:p>
          <a:p>
            <a:pPr>
              <a:spcBef>
                <a:spcPts val="600"/>
              </a:spcBef>
              <a:defRPr sz="1350">
                <a:solidFill>
                  <a:srgbClr val="1E293B"/>
                </a:solidFill>
              </a:defRPr>
            </a:pPr>
            <a:r>
              <a:t>• SIH26153 Mandate: Predict network attack risk 10 to 30 seconds BEFORE intrusions escalate.</a:t>
            </a:r>
          </a:p>
          <a:p>
            <a:pPr>
              <a:spcBef>
                <a:spcPts val="600"/>
              </a:spcBef>
              <a:defRPr sz="1350">
                <a:solidFill>
                  <a:srgbClr val="1E293B"/>
                </a:solidFill>
              </a:defRPr>
            </a:pPr>
            <a:r>
              <a:t>• Ingests continuous 120-second rolling telemetry (T-11 ... T) and forecasts risk at T+1, T+2, and T+3.</a:t>
            </a:r>
          </a:p>
          <a:p>
            <a:pPr>
              <a:spcBef>
                <a:spcPts val="600"/>
              </a:spcBef>
              <a:defRPr sz="1350">
                <a:solidFill>
                  <a:srgbClr val="1E293B"/>
                </a:solidFill>
              </a:defRPr>
            </a:pPr>
            <a:r>
              <a:t>• Predicts 3 outputs concurrently: Future Attack Risk, Behavioral MITRE ATT&amp;CK Stage, and Continuous Network-State.</a:t>
            </a:r>
          </a:p>
          <a:p>
            <a:pPr>
              <a:spcBef>
                <a:spcPts val="600"/>
              </a:spcBef>
              <a:defRPr sz="1350">
                <a:solidFill>
                  <a:srgbClr val="1E293B"/>
                </a:solidFill>
              </a:defRPr>
            </a:pPr>
            <a:r>
              <a:t>• 100% Defensive &amp; Academic: Works offline with benchmark data, zero offensive tools, and zero cloud API dependencies.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ster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286000" y="777240"/>
            <a:ext cx="76196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E3A8A"/>
                </a:solidFill>
                <a:latin typeface="Georgia"/>
              </a:defRPr>
            </a:pPr>
            <a:r>
              <a:t>Literature Review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1444752"/>
            <a:ext cx="3962095" cy="36576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550" b="1">
                <a:solidFill>
                  <a:srgbClr val="1E3A8A"/>
                </a:solidFill>
                <a:latin typeface="Georgia"/>
              </a:defRPr>
            </a:pPr>
            <a:r>
              <a:t>1. Signature-Based Systems (Snort, Suricata, Bro/Zeek)</a:t>
            </a:r>
          </a:p>
          <a:p>
            <a:pPr>
              <a:spcBef>
                <a:spcPts val="200"/>
              </a:spcBef>
              <a:defRPr sz="1300">
                <a:solidFill>
                  <a:srgbClr val="1E293B"/>
                </a:solidFill>
              </a:defRPr>
            </a:pPr>
            <a:r>
              <a:t>    High accuracy for known signatures; completely blind to zero-day variants and multi-phase progression. Alert is fired only post-compromise.</a:t>
            </a:r>
          </a:p>
          <a:p>
            <a:pPr>
              <a:spcBef>
                <a:spcPts val="600"/>
              </a:spcBef>
              <a:defRPr sz="1550" b="1">
                <a:solidFill>
                  <a:srgbClr val="1E3A8A"/>
                </a:solidFill>
                <a:latin typeface="Georgia"/>
              </a:defRPr>
            </a:pPr>
            <a:r>
              <a:t>2. Traditional Machine Learning Classifiers (Random Forest, SVM, XGBoost)</a:t>
            </a:r>
          </a:p>
          <a:p>
            <a:pPr>
              <a:spcBef>
                <a:spcPts val="200"/>
              </a:spcBef>
              <a:defRPr sz="1300">
                <a:solidFill>
                  <a:srgbClr val="1E293B"/>
                </a:solidFill>
              </a:defRPr>
            </a:pPr>
            <a:r>
              <a:t>    Treats individual flow records as isolated, independent vectors. Incapable of modeling continuous temporal sequences or performing multi-step state rollouts.</a:t>
            </a:r>
          </a:p>
          <a:p>
            <a:pPr>
              <a:spcBef>
                <a:spcPts val="600"/>
              </a:spcBef>
              <a:defRPr sz="1550" b="1">
                <a:solidFill>
                  <a:srgbClr val="1E3A8A"/>
                </a:solidFill>
                <a:latin typeface="Georgia"/>
              </a:defRPr>
            </a:pPr>
            <a:r>
              <a:t>3. Recurrent Deep Learning Models (Standard RNN, Vanilla LSTM, GRU)</a:t>
            </a:r>
          </a:p>
          <a:p>
            <a:pPr>
              <a:spcBef>
                <a:spcPts val="200"/>
              </a:spcBef>
              <a:defRPr sz="1300">
                <a:solidFill>
                  <a:srgbClr val="1E293B"/>
                </a:solidFill>
              </a:defRPr>
            </a:pPr>
            <a:r>
              <a:t>    Captures temporal dependencies but models intrusions as static single-step binary classification (Malicious vs Benign) at current time T.</a:t>
            </a:r>
          </a:p>
          <a:p>
            <a:pPr>
              <a:spcBef>
                <a:spcPts val="600"/>
              </a:spcBef>
              <a:defRPr sz="1550" b="1">
                <a:solidFill>
                  <a:srgbClr val="166534"/>
                </a:solidFill>
                <a:latin typeface="Georgia"/>
              </a:defRPr>
            </a:pPr>
            <a:r>
              <a:t>4. The Identified Research Gap &amp; Sentinel-X Contribution</a:t>
            </a:r>
          </a:p>
          <a:p>
            <a:pPr>
              <a:spcBef>
                <a:spcPts val="200"/>
              </a:spcBef>
              <a:defRPr sz="1300">
                <a:solidFill>
                  <a:srgbClr val="1E293B"/>
                </a:solidFill>
              </a:defRPr>
            </a:pPr>
            <a:r>
              <a:t>    Lack of autoregressive World Models that predict future continuous telemetry states (s_t+1) to forecast multi-step risk horizons (T+1..T+3) with Explainable AI.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ster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286000" y="777240"/>
            <a:ext cx="76196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E3A8A"/>
                </a:solidFill>
                <a:latin typeface="Georgia"/>
              </a:defRPr>
            </a:pPr>
            <a:r>
              <a:t>Objective of the Project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1444752"/>
            <a:ext cx="3962095" cy="36576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500" b="1">
                <a:solidFill>
                  <a:srgbClr val="1E3A8A"/>
                </a:solidFill>
                <a:latin typeface="Georgia"/>
              </a:defRPr>
            </a:pPr>
            <a:r>
              <a:t>❖  Primary Objective: </a:t>
            </a:r>
            <a:r>
              <a:rPr sz="1300" b="0">
                <a:solidFill>
                  <a:srgbClr val="1E293B"/>
                </a:solidFill>
                <a:latin typeface="Arial"/>
              </a:rPr>
              <a:t>To engineer and implement Sentinel-X, a defensive machine learning system capable of forecasting multi-step network attack risk from sequential traffic telemetry prior to attack escalation (SIH26153).</a:t>
            </a:r>
          </a:p>
          <a:p>
            <a:pPr>
              <a:spcBef>
                <a:spcPts val="600"/>
              </a:spcBef>
              <a:defRPr sz="1500" b="1">
                <a:solidFill>
                  <a:srgbClr val="1E3A8A"/>
                </a:solidFill>
                <a:latin typeface="Georgia"/>
              </a:defRPr>
            </a:pPr>
            <a:r>
              <a:t>❖  Continuous Network-State Telemetry Formulation: </a:t>
            </a:r>
            <a:r>
              <a:rPr sz="1300" b="0">
                <a:solidFill>
                  <a:srgbClr val="1E293B"/>
                </a:solidFill>
                <a:latin typeface="Arial"/>
              </a:rPr>
              <a:t>Aggregate raw network flows into 10-second non-overlapping windows containing 16 key statistical features representing flow rates, packet length asymmetry, and protocol flag ratios.</a:t>
            </a:r>
          </a:p>
          <a:p>
            <a:pPr>
              <a:spcBef>
                <a:spcPts val="600"/>
              </a:spcBef>
              <a:defRPr sz="1500" b="1">
                <a:solidFill>
                  <a:srgbClr val="1E3A8A"/>
                </a:solidFill>
                <a:latin typeface="Georgia"/>
              </a:defRPr>
            </a:pPr>
            <a:r>
              <a:t>❖  Deep Recurrent World Model Architecture: </a:t>
            </a:r>
            <a:r>
              <a:rPr sz="1300" b="0">
                <a:solidFill>
                  <a:srgbClr val="1E293B"/>
                </a:solidFill>
                <a:latin typeface="Arial"/>
              </a:rPr>
              <a:t>Design a 2-layer LSTM recurrent World Model with three specialized multi-task heads: Risk Head (BCE Loss), Stage Head (Cross-Entropy), and State Reconstructor Head (MSE Loss).</a:t>
            </a:r>
          </a:p>
          <a:p>
            <a:pPr>
              <a:spcBef>
                <a:spcPts val="600"/>
              </a:spcBef>
              <a:defRPr sz="1500" b="1">
                <a:solidFill>
                  <a:srgbClr val="1E3A8A"/>
                </a:solidFill>
                <a:latin typeface="Georgia"/>
              </a:defRPr>
            </a:pPr>
            <a:r>
              <a:t>❖  Autoregressive Multi-Step Rollout: </a:t>
            </a:r>
            <a:r>
              <a:rPr sz="1300" b="0">
                <a:solidFill>
                  <a:srgbClr val="1E293B"/>
                </a:solidFill>
                <a:latin typeface="Arial"/>
              </a:rPr>
              <a:t>Iteratively feed the model's predicted continuous state (s_t+1) back into the recurrent loop to project threat trajectories across T+1 (10s), T+2 (20s), and T+3 (30s).</a:t>
            </a:r>
          </a:p>
          <a:p>
            <a:pPr>
              <a:spcBef>
                <a:spcPts val="600"/>
              </a:spcBef>
              <a:defRPr sz="1500" b="1">
                <a:solidFill>
                  <a:srgbClr val="1E3A8A"/>
                </a:solidFill>
                <a:latin typeface="Georgia"/>
              </a:defRPr>
            </a:pPr>
            <a:r>
              <a:t>❖  Explainable AI &amp; Defensive SOC Dashboard: </a:t>
            </a:r>
            <a:r>
              <a:rPr sz="1300" b="0">
                <a:solidFill>
                  <a:srgbClr val="1E293B"/>
                </a:solidFill>
                <a:latin typeface="Arial"/>
              </a:rPr>
              <a:t>Integrate SHAP (SHapley Additive exPlanations) to attribute risk drivers and inhibitors, presented via a real-time Streamlit SOC command center for intuitive human-in-the-loop triage.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ster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286000" y="777240"/>
            <a:ext cx="76196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E3A8A"/>
                </a:solidFill>
                <a:latin typeface="Georgia"/>
              </a:defRPr>
            </a:pPr>
            <a:r>
              <a:t>Feasibility Study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1444752"/>
            <a:ext cx="3962095" cy="36576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1737360"/>
            <a:ext cx="3108960" cy="4572000"/>
          </a:xfrm>
          <a:prstGeom prst="roundRect">
            <a:avLst/>
          </a:prstGeom>
          <a:solidFill>
            <a:srgbClr val="FFF8E7"/>
          </a:solidFill>
          <a:ln w="254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828800"/>
            <a:ext cx="2834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defRPr sz="1600" b="1">
                <a:solidFill>
                  <a:srgbClr val="1E3A8A"/>
                </a:solidFill>
                <a:latin typeface="Georgia"/>
              </a:defRPr>
            </a:pPr>
            <a:r>
              <a:t>Technical Feasibility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t>• Built with open-source PyTorch, scikit-learn, and Streamlit.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t>• 2-Layer LSTM with 128 hidden units trains in &lt; 2 minutes on CPU.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t>• Inference latency is under 20 milliseconds per sequence window, well within the 10-second operational telemetry window.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t>• Cross-platform compatibility: Windows 10/11, Ubuntu Linux, and macOS.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1737360"/>
            <a:ext cx="3108960" cy="4572000"/>
          </a:xfrm>
          <a:prstGeom prst="roundRect">
            <a:avLst/>
          </a:prstGeom>
          <a:solidFill>
            <a:srgbClr val="FFF8E7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09160" y="1828800"/>
            <a:ext cx="2834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defRPr sz="1600" b="1">
                <a:solidFill>
                  <a:srgbClr val="166534"/>
                </a:solidFill>
                <a:latin typeface="Georgia"/>
              </a:defRPr>
            </a:pPr>
            <a:r>
              <a:t>Operational Feasibility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t>• Provides proactive 10 to 30 second lead time for automated mitigation.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t>• Reduces false alarms by 75% compared to static baseline models, directly combating SOC analyst alert fatigue.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t>• Explainable AI (SHAP) provides transparent feature drivers, enabling fast human verification and triage.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t>• Clear visual dashboard requires minimal specialized training.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1737360"/>
            <a:ext cx="3108960" cy="4572000"/>
          </a:xfrm>
          <a:prstGeom prst="roundRect">
            <a:avLst/>
          </a:prstGeom>
          <a:solidFill>
            <a:srgbClr val="FFF8E7"/>
          </a:solidFill>
          <a:ln w="25400">
            <a:solidFill>
              <a:srgbClr val="991B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60" y="1828800"/>
            <a:ext cx="2834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defRPr sz="1600" b="1">
                <a:solidFill>
                  <a:srgbClr val="991B1B"/>
                </a:solidFill>
                <a:latin typeface="Georgia"/>
              </a:defRPr>
            </a:pPr>
            <a:r>
              <a:t>Economic &amp; Ethical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t>• Zero cost: requires no commercial APIs, cloud credits, or paid licenses.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t>• Self-contained: runs offline on standard academic/laboratory laptops.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t>• Strict defensive posture: contains no exploit code, payload generators, or offensive scanning tools.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t>• Complies with Indian academic evaluation and IEEE research guidelines.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ster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286000" y="777240"/>
            <a:ext cx="76196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E3A8A"/>
                </a:solidFill>
                <a:latin typeface="Georgia"/>
              </a:defRPr>
            </a:pPr>
            <a:r>
              <a:t>Proposed Work: End-to-End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1444752"/>
            <a:ext cx="3962095" cy="36576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E3A8A"/>
                </a:solidFill>
                <a:latin typeface="Georgia"/>
              </a:defRPr>
            </a:pPr>
            <a:r>
              <a:t>Sentinel-X Architecture Workflow</a:t>
            </a:r>
          </a:p>
          <a:p>
            <a:pPr>
              <a:defRPr sz="1300">
                <a:solidFill>
                  <a:srgbClr val="1E293B"/>
                </a:solidFill>
              </a:defRPr>
            </a:pPr>
            <a:r>
              <a:t>From continuous network packet flows to real-time autoregressive forecasting and SOC visualization:</a:t>
            </a:r>
          </a:p>
        </p:txBody>
      </p:sp>
      <p:pic>
        <p:nvPicPr>
          <p:cNvPr id="6" name="Picture 5" descr="chart_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2651760"/>
            <a:ext cx="9966960" cy="44297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ster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286000" y="777240"/>
            <a:ext cx="76196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E3A8A"/>
                </a:solidFill>
                <a:latin typeface="Georgia"/>
              </a:defRPr>
            </a:pPr>
            <a:r>
              <a:t>Proposed Work: 16-D Network State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1444752"/>
            <a:ext cx="3962095" cy="36576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E3A8A"/>
                </a:solidFill>
                <a:latin typeface="Georgia"/>
              </a:defRPr>
            </a:pPr>
            <a:r>
              <a:t>10-Second Flow Aggregation into 16 Continuous State Features</a:t>
            </a:r>
          </a:p>
          <a:p>
            <a:pPr>
              <a:defRPr sz="1300">
                <a:solidFill>
                  <a:srgbClr val="1E293B"/>
                </a:solidFill>
              </a:defRPr>
            </a:pPr>
            <a:r>
              <a:t>Packet-by-packet inspection fails on gigabit links; statistical flow windowing captures genuine attack kinetics:</a:t>
            </a:r>
          </a:p>
        </p:txBody>
      </p:sp>
      <p:pic>
        <p:nvPicPr>
          <p:cNvPr id="6" name="Picture 5" descr="chart_featu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2560320"/>
            <a:ext cx="9966960" cy="44297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ster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286000" y="777240"/>
            <a:ext cx="76196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E3A8A"/>
                </a:solidFill>
                <a:latin typeface="Georgia"/>
              </a:defRPr>
            </a:pPr>
            <a:r>
              <a:t>Methodology: Deep LSTM World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1444752"/>
            <a:ext cx="3962095" cy="36576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E3A8A"/>
                </a:solidFill>
                <a:latin typeface="Georgia"/>
              </a:defRPr>
            </a:pPr>
            <a:r>
              <a:t>Why a 'World Model' Architecture?</a:t>
            </a:r>
          </a:p>
          <a:p>
            <a:pPr>
              <a:spcBef>
                <a:spcPts val="400"/>
              </a:spcBef>
              <a:defRPr sz="1250">
                <a:solidFill>
                  <a:srgbClr val="1E293B"/>
                </a:solidFill>
              </a:defRPr>
            </a:pPr>
            <a:r>
              <a:t>• In AI, a World Model learns how an environment evolves over time. Sentinel-X forecasts both the threat label AND the next network state (s_t+1).</a:t>
            </a:r>
          </a:p>
          <a:p>
            <a:pPr>
              <a:spcBef>
                <a:spcPts val="400"/>
              </a:spcBef>
              <a:defRPr sz="1250">
                <a:solidFill>
                  <a:srgbClr val="1E293B"/>
                </a:solidFill>
              </a:defRPr>
            </a:pPr>
            <a:r>
              <a:t>• 2-Layer LSTM Backbone: Ingests 12-step sequence (T-11 ... T = 120s). Hidden dimension: 128, Dropout: 0.3.</a:t>
            </a:r>
          </a:p>
          <a:p>
            <a:pPr>
              <a:spcBef>
                <a:spcPts val="400"/>
              </a:spcBef>
              <a:defRPr sz="1250">
                <a:solidFill>
                  <a:srgbClr val="1E293B"/>
                </a:solidFill>
              </a:defRPr>
            </a:pPr>
            <a:r>
              <a:t>• Head 1 (Risk): Linear(128,32) -&gt; Sigmoid -&gt; BCE Loss. Predicts continuous probability of intrusion [0, 1].</a:t>
            </a:r>
          </a:p>
          <a:p>
            <a:pPr>
              <a:spcBef>
                <a:spcPts val="400"/>
              </a:spcBef>
              <a:defRPr sz="1250">
                <a:solidFill>
                  <a:srgbClr val="1E293B"/>
                </a:solidFill>
              </a:defRPr>
            </a:pPr>
            <a:r>
              <a:t>• Head 2 (Stage): Linear(128,64) -&gt; Softmax -&gt; Cross-Entropy. Classifies 5 MITRE ATT&amp;CK stages.</a:t>
            </a:r>
          </a:p>
          <a:p>
            <a:pPr>
              <a:spcBef>
                <a:spcPts val="400"/>
              </a:spcBef>
              <a:defRPr sz="1250">
                <a:solidFill>
                  <a:srgbClr val="1E293B"/>
                </a:solidFill>
              </a:defRPr>
            </a:pPr>
            <a:r>
              <a:t>• Head 3 (State): Linear(128,64) -&gt; Linear(64,16) -&gt; MSE. Reconstructs next 16-D continuous state vector.</a:t>
            </a:r>
          </a:p>
        </p:txBody>
      </p:sp>
      <p:pic>
        <p:nvPicPr>
          <p:cNvPr id="6" name="Picture 5" descr="chart_world_mod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1828800"/>
            <a:ext cx="5852160" cy="26009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ster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286000" y="777240"/>
            <a:ext cx="76196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E3A8A"/>
                </a:solidFill>
                <a:latin typeface="Georgia"/>
              </a:defRPr>
            </a:pPr>
            <a:r>
              <a:t>Methodology: Rollout &amp; Multi-Task Loss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1444752"/>
            <a:ext cx="3962095" cy="36576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E3A8A"/>
                </a:solidFill>
                <a:latin typeface="Georgia"/>
              </a:defRPr>
            </a:pPr>
            <a:r>
              <a:t>1. Closed-Loop Autoregressive Rollout Engine</a:t>
            </a:r>
          </a:p>
          <a:p>
            <a:pPr>
              <a:spcBef>
                <a:spcPts val="200"/>
              </a:spcBef>
              <a:defRPr sz="1300">
                <a:solidFill>
                  <a:srgbClr val="1E293B"/>
                </a:solidFill>
              </a:defRPr>
            </a:pPr>
            <a:r>
              <a:t>    • Step 1 (T+1): Ingests history [s_T-11 ... s_T] -&gt; outputs predicted state s_T+1, risk r_T+1, and stage c_T+1.</a:t>
            </a:r>
          </a:p>
          <a:p>
            <a:pPr>
              <a:spcBef>
                <a:spcPts val="200"/>
              </a:spcBef>
              <a:defRPr sz="1300">
                <a:solidFill>
                  <a:srgbClr val="1E293B"/>
                </a:solidFill>
              </a:defRPr>
            </a:pPr>
            <a:r>
              <a:t>    • Step 2 (T+2): Feeds predicted state s_T+1 back into recurrent cell with updated hidden state (h_1, c_1) -&gt; outputs s_T+2, r_T+2, c_T+2.</a:t>
            </a:r>
          </a:p>
          <a:p>
            <a:pPr>
              <a:spcBef>
                <a:spcPts val="200"/>
              </a:spcBef>
              <a:defRPr sz="1300">
                <a:solidFill>
                  <a:srgbClr val="1E293B"/>
                </a:solidFill>
              </a:defRPr>
            </a:pPr>
            <a:r>
              <a:t>    • Step 3 (T+3): Feeds predicted state s_T+2 into recurrent cell with (h_2, c_2) -&gt; outputs s_T+3, r_T+3, c_T+3.</a:t>
            </a:r>
          </a:p>
          <a:p>
            <a:pPr>
              <a:spcBef>
                <a:spcPts val="200"/>
              </a:spcBef>
              <a:defRPr sz="1300">
                <a:solidFill>
                  <a:srgbClr val="1E293B"/>
                </a:solidFill>
              </a:defRPr>
            </a:pPr>
            <a:r>
              <a:t>    • Eliminates dependency on ground truth future data during live operation.</a:t>
            </a:r>
          </a:p>
          <a:p>
            <a:pPr>
              <a:spcBef>
                <a:spcPts val="1000"/>
              </a:spcBef>
              <a:defRPr sz="1600" b="1">
                <a:solidFill>
                  <a:srgbClr val="991B1B"/>
                </a:solidFill>
                <a:latin typeface="Georgia"/>
              </a:defRPr>
            </a:pPr>
            <a:r>
              <a:t>2. Joint Weighted Multi-Task Loss Formulation</a:t>
            </a:r>
          </a:p>
          <a:p>
            <a:pPr>
              <a:spcBef>
                <a:spcPts val="300"/>
              </a:spcBef>
              <a:defRPr sz="1350" b="1">
                <a:solidFill>
                  <a:srgbClr val="1E3A8A"/>
                </a:solidFill>
                <a:latin typeface="Courier New"/>
              </a:defRPr>
            </a:pPr>
            <a:r>
              <a:t>    L_total = 1.0 * L_BCE(r_pred, r_true) + 1.0 * L_CE(c_pred, c_true) + 0.2 * L_MSE(s_pred, s_true)</a:t>
            </a:r>
          </a:p>
          <a:p>
            <a:pPr>
              <a:spcBef>
                <a:spcPts val="300"/>
              </a:spcBef>
              <a:defRPr sz="1300">
                <a:solidFill>
                  <a:srgbClr val="1E293B"/>
                </a:solidFill>
              </a:defRPr>
            </a:pPr>
            <a:r>
              <a:t>    • Auxiliary Task Regularization: Supervising the State Head on physical telemetry dynamics forces the shared LSTM latent space to understand real network behavior, drastically mitigating overfitting on attack labels.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ster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286000" y="777240"/>
            <a:ext cx="76196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E3A8A"/>
                </a:solidFill>
                <a:latin typeface="Georgia"/>
              </a:defRPr>
            </a:pPr>
            <a:r>
              <a:t>Methodology: Explainable AI (SHAP)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1444752"/>
            <a:ext cx="3962095" cy="36576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450" b="1">
                <a:solidFill>
                  <a:srgbClr val="1E3A8A"/>
                </a:solidFill>
                <a:latin typeface="Georgia"/>
              </a:defRPr>
            </a:pPr>
            <a:r>
              <a:t>❖  Why XAI is Mandatory for Defensive SOCs</a:t>
            </a:r>
          </a:p>
          <a:p>
            <a:pPr>
              <a:spcBef>
                <a:spcPts val="100"/>
              </a:spcBef>
              <a:defRPr sz="1250">
                <a:solidFill>
                  <a:srgbClr val="1E293B"/>
                </a:solidFill>
              </a:defRPr>
            </a:pPr>
            <a:r>
              <a:t>    A black-box prediction cannot be trusted for automated containment. Analysts need to know 'WHY' the neural network forecasts risk escalation to execute targeted firewall rules.</a:t>
            </a:r>
          </a:p>
          <a:p>
            <a:pPr>
              <a:spcBef>
                <a:spcPts val="400"/>
              </a:spcBef>
              <a:defRPr sz="1450" b="1">
                <a:solidFill>
                  <a:srgbClr val="1E3A8A"/>
                </a:solidFill>
                <a:latin typeface="Georgia"/>
              </a:defRPr>
            </a:pPr>
            <a:r>
              <a:t>❖  SHAP KernelExplainer Formulation</a:t>
            </a:r>
          </a:p>
          <a:p>
            <a:pPr>
              <a:spcBef>
                <a:spcPts val="100"/>
              </a:spcBef>
              <a:defRPr sz="1250">
                <a:solidFill>
                  <a:srgbClr val="1E293B"/>
                </a:solidFill>
              </a:defRPr>
            </a:pPr>
            <a:r>
              <a:t>    Derived from cooperative game theory (Shapley Additive exPlanations). Computes the marginal contribution of each network feature by comparing against a background distribution of benign flows.</a:t>
            </a:r>
          </a:p>
          <a:p>
            <a:pPr>
              <a:spcBef>
                <a:spcPts val="400"/>
              </a:spcBef>
              <a:defRPr sz="1450" b="1">
                <a:solidFill>
                  <a:srgbClr val="1E3A8A"/>
                </a:solidFill>
                <a:latin typeface="Georgia"/>
              </a:defRPr>
            </a:pPr>
            <a:r>
              <a:t>❖  Signed Feature Attributions (Risk Drivers vs. Inhibitors)</a:t>
            </a:r>
          </a:p>
          <a:p>
            <a:pPr>
              <a:spcBef>
                <a:spcPts val="100"/>
              </a:spcBef>
              <a:defRPr sz="1250">
                <a:solidFill>
                  <a:srgbClr val="1E293B"/>
                </a:solidFill>
              </a:defRPr>
            </a:pPr>
            <a:r>
              <a:t>    Risk Drivers (Positive SHAP): Features driving risk upward (e.g. syn_ratio +0.35, packet_rate +0.25).</a:t>
            </a:r>
            <a:br/>
            <a:r>
              <a:t>Risk Inhibitors (Negative SHAP): Features pulling risk downward (e.g. ack_ratio -0.13, duration_mean -0.08).</a:t>
            </a:r>
          </a:p>
          <a:p>
            <a:pPr>
              <a:spcBef>
                <a:spcPts val="400"/>
              </a:spcBef>
              <a:defRPr sz="1450" b="1">
                <a:solidFill>
                  <a:srgbClr val="1E3A8A"/>
                </a:solidFill>
                <a:latin typeface="Georgia"/>
              </a:defRPr>
            </a:pPr>
            <a:r>
              <a:t>❖  Temporal Sequence Saliency</a:t>
            </a:r>
          </a:p>
          <a:p>
            <a:pPr>
              <a:spcBef>
                <a:spcPts val="100"/>
              </a:spcBef>
              <a:defRPr sz="1250">
                <a:solidFill>
                  <a:srgbClr val="1E293B"/>
                </a:solidFill>
              </a:defRPr>
            </a:pPr>
            <a:r>
              <a:t>    Measures which specific historical time steps (T-11 ... T) exerted the strongest influence on the recurrent hidden state, identifying whether threats developed rapidly or gradually.</a:t>
            </a:r>
          </a:p>
          <a:p>
            <a:pPr>
              <a:spcBef>
                <a:spcPts val="400"/>
              </a:spcBef>
              <a:defRPr sz="1450" b="1">
                <a:solidFill>
                  <a:srgbClr val="1E3A8A"/>
                </a:solidFill>
                <a:latin typeface="Georgia"/>
              </a:defRPr>
            </a:pPr>
            <a:r>
              <a:t>❖  Deterministic Gradient Fallback</a:t>
            </a:r>
          </a:p>
          <a:p>
            <a:pPr>
              <a:spcBef>
                <a:spcPts val="100"/>
              </a:spcBef>
              <a:defRPr sz="1250">
                <a:solidFill>
                  <a:srgbClr val="1E293B"/>
                </a:solidFill>
              </a:defRPr>
            </a:pPr>
            <a:r>
              <a:t>    If background matrix sampling encounters degenerate covariance matrices, Sentinel-X seamlessly falls back to gradient-based input saliency (grad_x * x) to ensure zero dashboard interruption.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ster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286000" y="777240"/>
            <a:ext cx="76196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E3A8A"/>
                </a:solidFill>
                <a:latin typeface="Georgia"/>
              </a:defRPr>
            </a:pPr>
            <a:r>
              <a:t>Methodology: MITRE ATT&amp;CK Mapping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1444752"/>
            <a:ext cx="3962095" cy="36576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E3A8A"/>
                </a:solidFill>
                <a:latin typeface="Georgia"/>
              </a:defRPr>
            </a:pPr>
            <a:r>
              <a:t>Conservative Behavioral Attack Stage Classification</a:t>
            </a: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</a:defRPr>
            </a:pPr>
            <a:r>
              <a:t>Sentinel-X maps telemetry patterns to 5 MITRE ATT&amp;CK behavioral stages without claiming unsupported forensic certainty:</a:t>
            </a:r>
          </a:p>
          <a:p>
            <a:pPr>
              <a:spcBef>
                <a:spcPts val="300"/>
              </a:spcBef>
              <a:defRPr sz="1350" b="1">
                <a:solidFill>
                  <a:srgbClr val="166534"/>
                </a:solidFill>
                <a:latin typeface="Arial"/>
              </a:defRPr>
            </a:pPr>
            <a:r>
              <a:t>• Stage 0: Benign Baseline [BENIGN]: </a:t>
            </a:r>
            <a:r>
              <a:rPr sz="1250" b="0">
                <a:solidFill>
                  <a:srgbClr val="1E293B"/>
                </a:solidFill>
                <a:latin typeface="Arial"/>
              </a:rPr>
              <a:t>Normal operational traffic (expected HTTP/HTTPS, DNS, streaming). High ACK ratio (&gt; 0.85), low SYN ratio, steady flow durations.</a:t>
            </a:r>
          </a:p>
          <a:p>
            <a:pPr>
              <a:spcBef>
                <a:spcPts val="300"/>
              </a:spcBef>
              <a:defRPr sz="1350" b="1">
                <a:solidFill>
                  <a:srgbClr val="991B1B"/>
                </a:solidFill>
                <a:latin typeface="Arial"/>
              </a:defRPr>
            </a:pPr>
            <a:r>
              <a:t>• Stage 1: Reconnaissance [TA0043]: </a:t>
            </a:r>
            <a:r>
              <a:rPr sz="1250" b="0">
                <a:solidFill>
                  <a:srgbClr val="1E293B"/>
                </a:solidFill>
                <a:latin typeface="Arial"/>
              </a:rPr>
              <a:t>Active host &amp; port scanning. Elevated SYN ratios (&gt; 0.5), high flow counts, short durations, minimal backward payload bytes.</a:t>
            </a:r>
          </a:p>
          <a:p>
            <a:pPr>
              <a:spcBef>
                <a:spcPts val="300"/>
              </a:spcBef>
              <a:defRPr sz="1350" b="1">
                <a:solidFill>
                  <a:srgbClr val="991B1B"/>
                </a:solidFill>
                <a:latin typeface="Arial"/>
              </a:defRPr>
            </a:pPr>
            <a:r>
              <a:t>• Stage 2: Initial Access [TA0001]: </a:t>
            </a:r>
            <a:r>
              <a:rPr sz="1250" b="0">
                <a:solidFill>
                  <a:srgbClr val="1E293B"/>
                </a:solidFill>
                <a:latin typeface="Arial"/>
              </a:rPr>
              <a:t>Perimeter breach &amp; authentication brute force (FTP/SSH/Patator). Elevated byte rates, repeated connection spikes to auth services.</a:t>
            </a:r>
          </a:p>
          <a:p>
            <a:pPr>
              <a:spcBef>
                <a:spcPts val="300"/>
              </a:spcBef>
              <a:defRPr sz="1350" b="1">
                <a:solidFill>
                  <a:srgbClr val="991B1B"/>
                </a:solidFill>
                <a:latin typeface="Arial"/>
              </a:defRPr>
            </a:pPr>
            <a:r>
              <a:t>• Stage 3: Lateral Movement [TA0008]: </a:t>
            </a:r>
            <a:r>
              <a:rPr sz="1250" b="0">
                <a:solidFill>
                  <a:srgbClr val="1E293B"/>
                </a:solidFill>
                <a:latin typeface="Arial"/>
              </a:rPr>
              <a:t>Internal subnet traversal. Bursty flow intervals across SMB (445), RDP (3389), and WinRM (5985) management ports.</a:t>
            </a:r>
          </a:p>
          <a:p>
            <a:pPr>
              <a:spcBef>
                <a:spcPts val="300"/>
              </a:spcBef>
              <a:defRPr sz="1350" b="1">
                <a:solidFill>
                  <a:srgbClr val="991B1B"/>
                </a:solidFill>
                <a:latin typeface="Arial"/>
              </a:defRPr>
            </a:pPr>
            <a:r>
              <a:t>• Stage 4: Command &amp; Control [TA0011]: </a:t>
            </a:r>
            <a:r>
              <a:rPr sz="1250" b="0">
                <a:solidFill>
                  <a:srgbClr val="1E293B"/>
                </a:solidFill>
                <a:latin typeface="Arial"/>
              </a:rPr>
              <a:t>Outbound beaconing &amp; management channels. Periodic flow inter-arrival intervals (low variance) and consistent heartbeat payloads.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ster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286000" y="777240"/>
            <a:ext cx="76196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E3A8A"/>
                </a:solidFill>
                <a:latin typeface="Georgia"/>
              </a:defRPr>
            </a:pPr>
            <a:r>
              <a:t>Experimental Results &amp; Benchmarks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1444752"/>
            <a:ext cx="3962095" cy="36576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737360"/>
          <a:ext cx="530352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1325880"/>
                <a:gridCol w="1325880"/>
                <a:gridCol w="1325880"/>
              </a:tblGrid>
              <a:tr h="627017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Baseline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LSTM (T+1)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LSTM (T+3)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0F172A"/>
                          </a:solidFill>
                        </a:defRPr>
                      </a:pPr>
                      <a:r>
                        <a:t>Risk Recall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0F172A"/>
                          </a:solidFill>
                        </a:defRPr>
                      </a:pPr>
                      <a:r>
                        <a:t>97.8%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0F172A"/>
                          </a:solidFill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0F172A"/>
                          </a:solidFill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0F172A"/>
                          </a:solidFill>
                        </a:defRPr>
                      </a:pPr>
                      <a:r>
                        <a:t>Risk Precision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0F172A"/>
                          </a:solidFill>
                        </a:defRPr>
                      </a:pPr>
                      <a:r>
                        <a:t>98.9%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0F172A"/>
                          </a:solidFill>
                        </a:defRPr>
                      </a:pPr>
                      <a:r>
                        <a:t>96.7%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0F172A"/>
                          </a:solidFill>
                        </a:defRPr>
                      </a:pPr>
                      <a:r>
                        <a:t>94.6%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0F172A"/>
                          </a:solidFill>
                        </a:defRPr>
                      </a:pPr>
                      <a:r>
                        <a:t>Risk F1-Score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0F172A"/>
                          </a:solidFill>
                        </a:defRPr>
                      </a:pPr>
                      <a:r>
                        <a:t>0.9831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0F172A"/>
                          </a:solidFill>
                        </a:defRPr>
                      </a:pPr>
                      <a:r>
                        <a:t>0.9834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0F172A"/>
                          </a:solidFill>
                        </a:defRPr>
                      </a:pPr>
                      <a:r>
                        <a:t>0.9721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0F172A"/>
                          </a:solidFill>
                        </a:defRPr>
                      </a:pPr>
                      <a:r>
                        <a:t>False Positive 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0F172A"/>
                          </a:solidFill>
                        </a:defRPr>
                      </a:pPr>
                      <a:r>
                        <a:t>20.0%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0F172A"/>
                          </a:solidFill>
                        </a:defRPr>
                      </a:pPr>
                      <a:r>
                        <a:t>5.0%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0F172A"/>
                          </a:solidFill>
                        </a:defRPr>
                      </a:pPr>
                      <a:r>
                        <a:t>10.0%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0F172A"/>
                          </a:solidFill>
                        </a:defRPr>
                      </a:pPr>
                      <a:r>
                        <a:t>Stage Accuracy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0F172A"/>
                          </a:solidFill>
                        </a:defRPr>
                      </a:pPr>
                      <a:r>
                        <a:t>N/A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0F172A"/>
                          </a:solidFill>
                        </a:defRPr>
                      </a:pPr>
                      <a:r>
                        <a:t>62.8%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0F172A"/>
                          </a:solidFill>
                        </a:defRPr>
                      </a:pPr>
                      <a:r>
                        <a:t>60.6%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</a:tr>
              <a:tr h="627018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0F172A"/>
                          </a:solidFill>
                        </a:defRPr>
                      </a:pPr>
                      <a:r>
                        <a:t>State MAE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0F172A"/>
                          </a:solidFill>
                        </a:defRPr>
                      </a:pPr>
                      <a:r>
                        <a:t>N/A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0F172A"/>
                          </a:solidFill>
                        </a:defRPr>
                      </a:pPr>
                      <a:r>
                        <a:t>0.8538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0F172A"/>
                          </a:solidFill>
                        </a:defRPr>
                      </a:pPr>
                      <a:r>
                        <a:t>0.8820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chart_perform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920240"/>
            <a:ext cx="5212080" cy="282941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ster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286000" y="777240"/>
            <a:ext cx="76196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E3A8A"/>
                </a:solidFill>
                <a:latin typeface="Georgia"/>
              </a:defRPr>
            </a:pPr>
            <a:r>
              <a:t>Interactive SOC Dashboard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1444752"/>
            <a:ext cx="3962095" cy="36576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43891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E3A8A"/>
                </a:solidFill>
                <a:latin typeface="Georgia"/>
              </a:defRPr>
            </a:pPr>
            <a:r>
              <a:t>Real-Time Defensive Command Center</a:t>
            </a:r>
          </a:p>
          <a:p>
            <a:pPr>
              <a:spcBef>
                <a:spcPts val="300"/>
              </a:spcBef>
              <a:defRPr sz="1150">
                <a:solidFill>
                  <a:srgbClr val="1E293B"/>
                </a:solidFill>
              </a:defRPr>
            </a:pPr>
            <a:r>
              <a:t>• View 1 — Executive Risk: Real-time risk probability gauge, multi-step risk delta (T+3 - T), and MITRE stage card with confidence score.</a:t>
            </a:r>
          </a:p>
          <a:p>
            <a:pPr>
              <a:spcBef>
                <a:spcPts val="300"/>
              </a:spcBef>
              <a:defRPr sz="1150">
                <a:solidFill>
                  <a:srgbClr val="1E293B"/>
                </a:solidFill>
              </a:defRPr>
            </a:pPr>
            <a:r>
              <a:t>• View 2 — Forecast Timeline: Verified historical risk trail (T-11..T) contrasted against future autoregressive forecast (T+1..T+3) with 95% CI band.</a:t>
            </a:r>
          </a:p>
          <a:p>
            <a:pPr>
              <a:spcBef>
                <a:spcPts val="300"/>
              </a:spcBef>
              <a:defRPr sz="1150">
                <a:solidFill>
                  <a:srgbClr val="1E293B"/>
                </a:solidFill>
              </a:defRPr>
            </a:pPr>
            <a:r>
              <a:t>• View 3 — Threat Attribution: Signed horizontal SHAP bar chart (red risk drivers vs green inhibitors) &amp; temporal sequence importance.</a:t>
            </a:r>
          </a:p>
          <a:p>
            <a:pPr>
              <a:spcBef>
                <a:spcPts val="300"/>
              </a:spcBef>
              <a:defRPr sz="1150">
                <a:solidFill>
                  <a:srgbClr val="1E293B"/>
                </a:solidFill>
              </a:defRPr>
            </a:pPr>
            <a:r>
              <a:t>• View 4 — Model Performance: Full comparative evaluation table &amp; degradation curves across multi-step horizons.</a:t>
            </a:r>
          </a:p>
          <a:p>
            <a:pPr>
              <a:spcBef>
                <a:spcPts val="300"/>
              </a:spcBef>
              <a:defRPr sz="1150">
                <a:solidFill>
                  <a:srgbClr val="1E293B"/>
                </a:solidFill>
              </a:defRPr>
            </a:pPr>
            <a:r>
              <a:t>• View 5 — System Status: Hardware diagnostics (CPU/GPU), Python/PyTorch versions, and checkpoint verification.</a:t>
            </a:r>
          </a:p>
        </p:txBody>
      </p:sp>
      <p:pic>
        <p:nvPicPr>
          <p:cNvPr id="6" name="Picture 5" descr="dashboard_screensh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1828800"/>
            <a:ext cx="6035040" cy="3377029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ster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286000" y="777240"/>
            <a:ext cx="76196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E3A8A"/>
                </a:solidFill>
                <a:latin typeface="Georgia"/>
              </a:defRPr>
            </a:pPr>
            <a:r>
              <a:t>Social &amp; Environmental Relevance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1444752"/>
            <a:ext cx="3962095" cy="36576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600" b="1">
                <a:solidFill>
                  <a:srgbClr val="1E3A8A"/>
                </a:solidFill>
                <a:latin typeface="Georgia"/>
              </a:defRPr>
            </a:pPr>
            <a:r>
              <a:t>1. National Critical Infrastructure Defense (Social &amp; Strategic Impact)</a:t>
            </a:r>
          </a:p>
          <a:p>
            <a:pPr>
              <a:spcBef>
                <a:spcPts val="200"/>
              </a:spcBef>
              <a:defRPr sz="1300">
                <a:solidFill>
                  <a:srgbClr val="1E293B"/>
                </a:solidFill>
              </a:defRPr>
            </a:pPr>
            <a:r>
              <a:t>    Cyber attacks targeting power grids, healthcare systems, defense networks, and banking portals cause devastating collateral damage. Sentinel-X's proactive 10-30 second forecasting lead time empowers defensive infrastructure to deploy automated rate limiters and isolation policies before services suffer catastrophic disruption.</a:t>
            </a:r>
          </a:p>
          <a:p>
            <a:pPr>
              <a:spcBef>
                <a:spcPts val="800"/>
              </a:spcBef>
              <a:defRPr sz="1600" b="1">
                <a:solidFill>
                  <a:srgbClr val="1E3A8A"/>
                </a:solidFill>
                <a:latin typeface="Georgia"/>
              </a:defRPr>
            </a:pPr>
            <a:r>
              <a:t>2. Human-Centric SOC Workload &amp; Burnout Mitigation (Human Impact)</a:t>
            </a:r>
          </a:p>
          <a:p>
            <a:pPr>
              <a:spcBef>
                <a:spcPts val="200"/>
              </a:spcBef>
              <a:defRPr sz="1300">
                <a:solidFill>
                  <a:srgbClr val="1E293B"/>
                </a:solidFill>
              </a:defRPr>
            </a:pPr>
            <a:r>
              <a:t>    Cybersecurity professionals suffer extreme cognitive fatigue from sorting through tens of thousands of daily false positives. By reducing the false alarm rate from 20% to 5% (a 75% reduction) and delivering transparent SHAP attributions, Sentinel-X restores analyst focus to genuine high-priority incidents.</a:t>
            </a:r>
          </a:p>
          <a:p>
            <a:pPr>
              <a:spcBef>
                <a:spcPts val="800"/>
              </a:spcBef>
              <a:defRPr sz="1600" b="1">
                <a:solidFill>
                  <a:srgbClr val="1E3A8A"/>
                </a:solidFill>
                <a:latin typeface="Georgia"/>
              </a:defRPr>
            </a:pPr>
            <a:r>
              <a:t>3. Lightweight 'Green AI' on Consumer Hardware (Environmental Impact)</a:t>
            </a:r>
          </a:p>
          <a:p>
            <a:pPr>
              <a:spcBef>
                <a:spcPts val="200"/>
              </a:spcBef>
              <a:defRPr sz="1300">
                <a:solidFill>
                  <a:srgbClr val="1E293B"/>
                </a:solidFill>
              </a:defRPr>
            </a:pPr>
            <a:r>
              <a:t>    Unlike cloud-heavy generative models that burn megawatts in remote server farms, Sentinel-X is designed as an edge-capable Green AI system. The entire 2-layer recurrent architecture executes inference in &lt; 20 ms on a standard laptop CPU, consuming negligible electrical power with zero cloud carbon footprint.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ster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286000" y="777240"/>
            <a:ext cx="76196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E3A8A"/>
                </a:solidFill>
                <a:latin typeface="Georgia"/>
              </a:defRPr>
            </a:pPr>
            <a:r>
              <a:t>Conclusion &amp; Future Scope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1444752"/>
            <a:ext cx="3962095" cy="36576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50292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66534"/>
                </a:solidFill>
                <a:latin typeface="Georgia"/>
              </a:defRPr>
            </a:pPr>
            <a:r>
              <a:t>Key Project Achievements</a:t>
            </a:r>
          </a:p>
          <a:p>
            <a:pPr>
              <a:spcBef>
                <a:spcPts val="600"/>
              </a:spcBef>
              <a:defRPr sz="1300">
                <a:solidFill>
                  <a:srgbClr val="1E293B"/>
                </a:solidFill>
              </a:defRPr>
            </a:pPr>
            <a:r>
              <a:t>• Successfully solved SIH26153 by transitioning network security from reactive post-incident detection to proactive multi-step forecasting.</a:t>
            </a:r>
          </a:p>
          <a:p>
            <a:pPr>
              <a:spcBef>
                <a:spcPts val="600"/>
              </a:spcBef>
              <a:defRPr sz="1300">
                <a:solidFill>
                  <a:srgbClr val="1E293B"/>
                </a:solidFill>
              </a:defRPr>
            </a:pPr>
            <a:r>
              <a:t>• Demonstrated 100% attack recall on T+1 and a 75% reduction in false alarms over the static baseline benchmark.</a:t>
            </a:r>
          </a:p>
          <a:p>
            <a:pPr>
              <a:spcBef>
                <a:spcPts val="600"/>
              </a:spcBef>
              <a:defRPr sz="1300">
                <a:solidFill>
                  <a:srgbClr val="1E293B"/>
                </a:solidFill>
              </a:defRPr>
            </a:pPr>
            <a:r>
              <a:t>• Engineered an autoregressive World Model with multi-task loss that simulates continuous network dynamics.</a:t>
            </a:r>
          </a:p>
          <a:p>
            <a:pPr>
              <a:spcBef>
                <a:spcPts val="600"/>
              </a:spcBef>
              <a:defRPr sz="1300">
                <a:solidFill>
                  <a:srgbClr val="1E293B"/>
                </a:solidFill>
              </a:defRPr>
            </a:pPr>
            <a:r>
              <a:t>• Delivered full explainability via SHAP and an operational 5-view SOC dashboard running locally offline.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737360"/>
            <a:ext cx="50292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E3A8A"/>
                </a:solidFill>
                <a:latin typeface="Georgia"/>
              </a:defRPr>
            </a:pPr>
            <a:r>
              <a:t>Future Research &amp; Enhancements</a:t>
            </a:r>
          </a:p>
          <a:p>
            <a:pPr>
              <a:spcBef>
                <a:spcPts val="600"/>
              </a:spcBef>
              <a:defRPr sz="1300">
                <a:solidFill>
                  <a:srgbClr val="1E293B"/>
                </a:solidFill>
              </a:defRPr>
            </a:pPr>
            <a:r>
              <a:t>• Automated SDN Integration: Connecting high-confidence T+1 forecasts directly to Software-Defined Networking (SDN) OpenFlow controllers to enforce instant dynamic firewall rules.</a:t>
            </a:r>
          </a:p>
          <a:p>
            <a:pPr>
              <a:spcBef>
                <a:spcPts val="600"/>
              </a:spcBef>
              <a:defRPr sz="1300">
                <a:solidFill>
                  <a:srgbClr val="1E293B"/>
                </a:solidFill>
              </a:defRPr>
            </a:pPr>
            <a:r>
              <a:t>• Temporal Graph Neural Networks (GNNs): Modeling multi-host IP interaction topology alongside time-series sequence kinetics.</a:t>
            </a:r>
          </a:p>
          <a:p>
            <a:pPr>
              <a:spcBef>
                <a:spcPts val="600"/>
              </a:spcBef>
              <a:defRPr sz="1300">
                <a:solidFill>
                  <a:srgbClr val="1E293B"/>
                </a:solidFill>
              </a:defRPr>
            </a:pPr>
            <a:r>
              <a:t>• Model Quantization (ONNX / TensorRT): Compressing the PyTorch LSTM for microsecond deployment directly inside edge enterprise routers.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ster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286000" y="777240"/>
            <a:ext cx="76196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E3A8A"/>
                </a:solidFill>
                <a:latin typeface="Georgia"/>
              </a:defRPr>
            </a:pPr>
            <a:r>
              <a:t>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1444752"/>
            <a:ext cx="3962095" cy="36576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1E293B"/>
                </a:solidFill>
                <a:latin typeface="Arial"/>
              </a:defRPr>
            </a:pPr>
            <a:r>
              <a:t>[1] I. Sharafaldin, A. H. Lashkari, and A. A. Ghorbani, 'Toward Generating a New Intrusion Detection Dataset and Intrusion Traffic Characterization', Proceedings of the 4th International Conference on Information Systems Security and Privacy (ICISSP), pp. 108-116, 2018. (CIC-IDS Dataset)</a:t>
            </a:r>
          </a:p>
          <a:p>
            <a:pPr>
              <a:spcBef>
                <a:spcPts val="500"/>
              </a:spcBef>
              <a:defRPr sz="1200">
                <a:solidFill>
                  <a:srgbClr val="1E293B"/>
                </a:solidFill>
                <a:latin typeface="Arial"/>
              </a:defRPr>
            </a:pPr>
            <a:r>
              <a:t>[2] S. M. Lundberg and S.-I. Lee, 'A Unified Approach to Interpreting Model Predictions', Advances in Neural Information Processing Systems (NeurIPS 30), pp. 4765-4774, 2017. (SHAP Framework)</a:t>
            </a:r>
          </a:p>
          <a:p>
            <a:pPr>
              <a:spcBef>
                <a:spcPts val="500"/>
              </a:spcBef>
              <a:defRPr sz="1200">
                <a:solidFill>
                  <a:srgbClr val="1E293B"/>
                </a:solidFill>
                <a:latin typeface="Arial"/>
              </a:defRPr>
            </a:pPr>
            <a:r>
              <a:t>[3] S. Hochreiter and J. Schmidhuber, 'Long Short-Term Memory', Neural Computation, vol. 9, no. 8, pp. 1735-1780, 1997.</a:t>
            </a:r>
          </a:p>
          <a:p>
            <a:pPr>
              <a:spcBef>
                <a:spcPts val="500"/>
              </a:spcBef>
              <a:defRPr sz="1200">
                <a:solidFill>
                  <a:srgbClr val="1E293B"/>
                </a:solidFill>
                <a:latin typeface="Arial"/>
              </a:defRPr>
            </a:pPr>
            <a:r>
              <a:t>[4] MITRE Corporation, 'MITRE ATT&amp;CK Enterprise Matrix for Cybersecurity Defense', MITRE Corporation Documentation, 2024. Available: https://attack.mitre.org/</a:t>
            </a:r>
          </a:p>
          <a:p>
            <a:pPr>
              <a:spcBef>
                <a:spcPts val="500"/>
              </a:spcBef>
              <a:defRPr sz="1200">
                <a:solidFill>
                  <a:srgbClr val="1E293B"/>
                </a:solidFill>
                <a:latin typeface="Arial"/>
              </a:defRPr>
            </a:pPr>
            <a:r>
              <a:t>[5] Smart India Hackathon (SIH), 'Problem Statement SIH26153: AI based Network Attack Forecasting from Network Traffic Data', Ministry of Education, Govt. of India, 2024.</a:t>
            </a:r>
          </a:p>
          <a:p>
            <a:pPr>
              <a:spcBef>
                <a:spcPts val="500"/>
              </a:spcBef>
              <a:defRPr sz="1200">
                <a:solidFill>
                  <a:srgbClr val="1E293B"/>
                </a:solidFill>
                <a:latin typeface="Arial"/>
              </a:defRPr>
            </a:pPr>
            <a:r>
              <a:t>[6] F. Pedregosa et al., 'Scikit-learn: Machine Learning in Python', Journal of Machine Learning Research, vol. 12, pp. 2825-2830, 2011.</a:t>
            </a:r>
          </a:p>
          <a:p>
            <a:pPr>
              <a:spcBef>
                <a:spcPts val="500"/>
              </a:spcBef>
              <a:defRPr sz="1200">
                <a:solidFill>
                  <a:srgbClr val="1E293B"/>
                </a:solidFill>
                <a:latin typeface="Arial"/>
              </a:defRPr>
            </a:pPr>
            <a:r>
              <a:t>[7] A. Paszke et al., 'PyTorch: An Imperative Style, High-Performance Deep Learning Library', Advances in Neural Information Processing Systems (NeurIPS 32), pp. 8024-8035, 2019.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28800" y="3931920"/>
            <a:ext cx="8534095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E3A8A"/>
                </a:solidFill>
                <a:latin typeface="Georgia"/>
              </a:defRPr>
            </a:pPr>
            <a:r>
              <a:t>Questions &amp; Discussion</a:t>
            </a:r>
          </a:p>
          <a:p>
            <a:pPr algn="ctr">
              <a:spcBef>
                <a:spcPts val="800"/>
              </a:spcBef>
              <a:defRPr sz="1400" b="1">
                <a:solidFill>
                  <a:srgbClr val="0F172A"/>
                </a:solidFill>
                <a:latin typeface="Arial"/>
              </a:defRPr>
            </a:pPr>
            <a:r>
              <a:t>Shristi Jaiswal | Suraj Prakash Chaudhary | Suraj Upadhyay | Udai Kumar Srivastava</a:t>
            </a:r>
          </a:p>
          <a:p>
            <a:pPr algn="ctr">
              <a:spcBef>
                <a:spcPts val="600"/>
              </a:spcBef>
              <a:defRPr sz="1300" b="1">
                <a:solidFill>
                  <a:srgbClr val="991B1B"/>
                </a:solidFill>
                <a:latin typeface="Arial"/>
              </a:defRPr>
            </a:pPr>
            <a:r>
              <a:t>Under the guidance of: Mr. Akash Gupta (Assistant Professor)</a:t>
            </a:r>
            <a:br/>
            <a:r>
              <a:t>Department of Computer Science and Engineering</a:t>
            </a:r>
            <a:br/>
            <a:r>
              <a:t>Buddha Institute of Technology, GIDA, Gorakhpur</a:t>
            </a:r>
          </a:p>
          <a:p>
            <a:pPr algn="ctr">
              <a:spcBef>
                <a:spcPts val="800"/>
              </a:spcBef>
              <a:defRPr sz="1200">
                <a:solidFill>
                  <a:srgbClr val="64748B"/>
                </a:solidFill>
                <a:latin typeface="Arial"/>
              </a:defRPr>
            </a:pPr>
            <a:r>
              <a:t>GitHub: github.com/surajbuilds53/sentinel-x   |   Live Overview: sentinel-x-lilac.vercel.app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